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Segoe UI"/>
              </a:rPr>
              <a:t>MULTI-AGENT MONGODB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C0392B"/>
                </a:solidFill>
                <a:latin typeface="Segoe UI"/>
              </a:rPr>
              <a:t>From days of handoffs</a:t>
            </a:r>
          </a:p>
          <a:p>
            <a:pPr algn="l"/>
            <a:r>
              <a:rPr sz="4000" b="1">
                <a:solidFill>
                  <a:srgbClr val="0F7A4D"/>
                </a:solidFill>
                <a:latin typeface="Segoe UI"/>
              </a:rPr>
              <a:t>to seconds of self-service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B6676"/>
                </a:solidFill>
                <a:latin typeface="Segoe UI"/>
              </a:rPr>
              <a:t>The same business question takes two very different paths. One moves through people and queues. The other is resolved inside a governed AI workspace. The difference is time, cost, and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2743200" cy="914400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0392B"/>
                </a:solidFill>
                <a:latin typeface="Segoe UI"/>
              </a:rPr>
              <a:t>TODAY</a:t>
            </a:r>
          </a:p>
          <a:p>
            <a:pPr algn="l">
              <a:spcAft>
                <a:spcPts val="100"/>
              </a:spcAft>
            </a:pPr>
            <a:r>
              <a:rPr sz="2000" b="1">
                <a:solidFill>
                  <a:srgbClr val="C0392B"/>
                </a:solidFill>
                <a:latin typeface="Segoe UI"/>
              </a:rPr>
              <a:t>2 - 5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4892040"/>
            <a:ext cx="2743200" cy="914400"/>
          </a:xfrm>
          <a:prstGeom prst="roundRect">
            <a:avLst/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7A4D"/>
                </a:solidFill>
                <a:latin typeface="Segoe UI"/>
              </a:rPr>
              <a:t>WITH THE PLATFORM</a:t>
            </a:r>
          </a:p>
          <a:p>
            <a:pPr algn="l">
              <a:spcAft>
                <a:spcPts val="100"/>
              </a:spcAft>
            </a:pPr>
            <a:r>
              <a:rPr sz="2000" b="1">
                <a:solidFill>
                  <a:srgbClr val="0F7A4D"/>
                </a:solidFill>
                <a:latin typeface="Segoe UI"/>
              </a:rPr>
              <a:t>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4A4"/>
                </a:solidFill>
                <a:latin typeface="Segoe UI"/>
              </a:rPr>
              <a:t>Illustrative request lifecycle, not a measured production baseline. The platform path assumes no sensitive-data approval pause.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Segoe UI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02E"/>
                </a:solidFill>
                <a:latin typeface="Segoe UI"/>
              </a:rPr>
              <a:t>Two paths for the same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02E"/>
                </a:solidFill>
                <a:latin typeface="Segoe UI"/>
              </a:rPr>
              <a:t>Today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People and queues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975104"/>
            <a:ext cx="6949440" cy="384048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63240" y="1975104"/>
            <a:ext cx="69494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19202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C0392B"/>
                </a:solidFill>
                <a:latin typeface="Segoe UI"/>
              </a:rPr>
              <a:t>2 - 5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02E"/>
                </a:solidFill>
                <a:latin typeface="Segoe UI"/>
              </a:rPr>
              <a:t>With the platform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Governed AI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346704"/>
            <a:ext cx="6949440" cy="384048"/>
          </a:xfrm>
          <a:prstGeom prst="roundRect">
            <a:avLst>
              <a:gd name="adj" fmla="val 5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63240" y="3346704"/>
            <a:ext cx="277977" cy="384048"/>
          </a:xfrm>
          <a:prstGeom prst="roundRect">
            <a:avLst>
              <a:gd name="adj" fmla="val 50000"/>
            </a:avLst>
          </a:prstGeom>
          <a:solidFill>
            <a:srgbClr val="0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F7A4D"/>
                </a:solidFill>
                <a:latin typeface="Segoe UI"/>
              </a:rPr>
              <a:t>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676"/>
                </a:solidFill>
                <a:latin typeface="Segoe UI"/>
              </a:rPr>
              <a:t>The current path is slow because the answer depends on people being free. The platform removes that dependency: simple questions are answered locally and instantly, hard ones are reasoned and checked, and sensitive requests stop for a human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Segoe UI"/>
              </a:rPr>
              <a:t>CURRENT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02E"/>
                </a:solidFill>
                <a:latin typeface="Segoe UI"/>
              </a:rPr>
              <a:t>The long road: every question is a ticket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57400" cy="841248"/>
          </a:xfrm>
          <a:prstGeom prst="round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TYPICAL TURNAROUND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C0392B"/>
                </a:solidFill>
                <a:latin typeface="Segoe UI"/>
              </a:rPr>
              <a:t>2 - 5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5F7FB"/>
                </a:solidFill>
                <a:latin typeface="Segoe U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Business user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Has a question but no way to query the data directly.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Starts request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57399" y="2848356"/>
            <a:ext cx="310896" cy="201168"/>
          </a:xfrm>
          <a:prstGeom prst="rightArrow">
            <a:avLst/>
          </a:prstGeom>
          <a:solidFill>
            <a:srgbClr val="E3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Segoe UI"/>
              </a:rPr>
              <a:t>Queue + triage
4 - 8 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7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C0392B"/>
                </a:solidFill>
                <a:latin typeface="Segoe UI"/>
              </a:rPr>
              <a:t>WAITING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Queries the system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Raises a ticket describing what is needed.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456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2 - 4 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95928" y="2848356"/>
            <a:ext cx="310896" cy="201168"/>
          </a:xfrm>
          <a:prstGeom prst="rightArrow">
            <a:avLst/>
          </a:prstGeom>
          <a:solidFill>
            <a:srgbClr val="E3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Segoe UI"/>
              </a:rPr>
              <a:t>Backlog wait
1 - 2 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C0392B"/>
                </a:solidFill>
                <a:latin typeface="Segoe UI"/>
              </a:rPr>
              <a:t>WAITING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OPS team queue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Waits in the support backlog behind other tickets.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3984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1 - 2 days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56" y="2848356"/>
            <a:ext cx="310896" cy="201168"/>
          </a:xfrm>
          <a:prstGeom prst="rightArrow">
            <a:avLst/>
          </a:prstGeom>
          <a:solidFill>
            <a:srgbClr val="E3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31536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Segoe UI"/>
              </a:rPr>
              <a:t>Handoff
4 - 8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C0392B"/>
                </a:solidFill>
                <a:latin typeface="Segoe UI"/>
              </a:rPr>
              <a:t>WAITING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OPS validates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Scope, fields, and permissions are clarified over email.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2 - 4 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72983" y="2848356"/>
            <a:ext cx="310896" cy="201168"/>
          </a:xfrm>
          <a:prstGeom prst="rightArrow">
            <a:avLst/>
          </a:prstGeom>
          <a:solidFill>
            <a:srgbClr val="E3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3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Segoe UI"/>
              </a:rPr>
              <a:t>Dev capacity
1 - 3 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11312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A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C0392B"/>
                </a:solidFill>
                <a:latin typeface="Segoe UI"/>
              </a:rPr>
              <a:t>WAITING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Transferred to Dev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A developer picks it up when capacity allows.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1 - 3 days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11512" y="2848356"/>
            <a:ext cx="310896" cy="201168"/>
          </a:xfrm>
          <a:prstGeom prst="rightArrow">
            <a:avLst/>
          </a:prstGeom>
          <a:solidFill>
            <a:srgbClr val="E3A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C0392B"/>
                </a:solidFill>
                <a:latin typeface="Segoe UI"/>
              </a:rPr>
              <a:t>Follow-up
2 - 6 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49840" y="1691640"/>
            <a:ext cx="157276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F5F7FB"/>
                </a:solidFill>
                <a:latin typeface="Segoe UI"/>
              </a:rPr>
              <a:t> 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Response returned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The result is pasted back and reaches the user.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9568" y="374903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C0392B"/>
                </a:solidFill>
                <a:latin typeface="Segoe UI"/>
              </a:rPr>
              <a:t>1 - 2 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Segoe UI"/>
              </a:rPr>
              <a:t>WITH 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02E"/>
                </a:solidFill>
                <a:latin typeface="Segoe UI"/>
              </a:rPr>
              <a:t>The direct path: one governed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384048"/>
            <a:ext cx="2057400" cy="841248"/>
          </a:xfrm>
          <a:prstGeom prst="roundRect">
            <a:avLst/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0F7A4D"/>
                </a:solidFill>
                <a:latin typeface="Segoe UI"/>
              </a:rPr>
              <a:t>TYPICAL TURNAROUND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F7A4D"/>
                </a:solidFill>
                <a:latin typeface="Segoe UI"/>
              </a:rPr>
              <a:t>Seconds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22402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Business user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Asks in plain English, no query language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8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D4ED8"/>
                </a:solidFill>
                <a:latin typeface="Segoe UI"/>
              </a:rPr>
              <a:t>Under 1 min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53512" y="2848356"/>
            <a:ext cx="310896" cy="201168"/>
          </a:xfrm>
          <a:prstGeom prst="rightArrow">
            <a:avLst/>
          </a:prstGeom>
          <a:solidFill>
            <a:srgbClr val="9FD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</a:rPr>
              <a:t>Typed, no ticket
Instant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2402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AI chat system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Understands intent locally: cache, slots, routing.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0168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D4ED8"/>
                </a:solidFill>
                <a:latin typeface="Segoe UI"/>
              </a:rPr>
              <a:t>Cache &lt; 10 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16752" y="2848356"/>
            <a:ext cx="310896" cy="201168"/>
          </a:xfrm>
          <a:prstGeom prst="rightArrow">
            <a:avLst/>
          </a:prstGeom>
          <a:solidFill>
            <a:srgbClr val="9FD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</a:rPr>
              <a:t>In-memory
Instant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91640"/>
            <a:ext cx="22402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Business filter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Applies the schema, sensitivity flags, guardrails.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D4ED8"/>
                </a:solidFill>
                <a:latin typeface="Segoe UI"/>
              </a:rPr>
              <a:t>Guardrail &lt; 1 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079992" y="2848356"/>
            <a:ext cx="310896" cy="201168"/>
          </a:xfrm>
          <a:prstGeom prst="rightArrow">
            <a:avLst/>
          </a:prstGeom>
          <a:solidFill>
            <a:srgbClr val="9FD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3095244"/>
            <a:ext cx="13167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Segoe UI"/>
              </a:rPr>
              <a:t>Validated
Instant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691640"/>
            <a:ext cx="22402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02E"/>
                </a:solidFill>
                <a:latin typeface="Segoe UI"/>
              </a:rPr>
              <a:t>Output shared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5B6676"/>
                </a:solidFill>
                <a:latin typeface="Segoe UI"/>
              </a:rPr>
              <a:t>Governed answer, table, briefing, or export.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6648" y="3749039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E2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850" b="1">
                <a:solidFill>
                  <a:srgbClr val="1D4ED8"/>
                </a:solidFill>
                <a:latin typeface="Segoe UI"/>
              </a:rPr>
              <a:t>1.5 - 3 s if AI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Segoe U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02E"/>
                </a:solidFill>
                <a:latin typeface="Segoe UI"/>
              </a:rPr>
              <a:t>The system behind the direct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" cy="1207008"/>
          </a:xfrm>
          <a:prstGeom prst="rect">
            <a:avLst/>
          </a:prstGeom>
          <a:solidFill>
            <a:srgbClr val="6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23774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202E"/>
                </a:solidFill>
                <a:latin typeface="Segoe UI"/>
              </a:rPr>
              <a:t>Experience layer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Angular 21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90472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Personal greeting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0368" y="1490472"/>
            <a:ext cx="182880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Quick-action chips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8896" y="1490472"/>
            <a:ext cx="210312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Agent activity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4" y="1490472"/>
            <a:ext cx="128016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Results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84248"/>
            <a:ext cx="15544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Approval portal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2532888"/>
            <a:ext cx="274320" cy="128016"/>
          </a:xfrm>
          <a:prstGeom prst="downArrow">
            <a:avLst/>
          </a:prstGeom>
          <a:solidFill>
            <a:srgbClr val="8A9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660904"/>
            <a:ext cx="11064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60904"/>
            <a:ext cx="82296" cy="120700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25496"/>
            <a:ext cx="23774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202E"/>
                </a:solidFill>
                <a:latin typeface="Segoe UI"/>
              </a:rPr>
              <a:t>Intelligence layer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Hybrid NLP and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825496"/>
            <a:ext cx="24688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Semantic cache, bge-small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2825496"/>
            <a:ext cx="15544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Slot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6096" y="2825496"/>
            <a:ext cx="173736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Scriban templates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319272"/>
            <a:ext cx="29260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NVIDIA NIM for complex queries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3319272"/>
            <a:ext cx="329184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AST validation and self-correction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0" y="3867912"/>
            <a:ext cx="274320" cy="128016"/>
          </a:xfrm>
          <a:prstGeom prst="downArrow">
            <a:avLst/>
          </a:prstGeom>
          <a:solidFill>
            <a:srgbClr val="8A9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3995928"/>
            <a:ext cx="1106424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95928"/>
            <a:ext cx="82296" cy="120700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60520"/>
            <a:ext cx="23774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202E"/>
                </a:solidFill>
                <a:latin typeface="Segoe UI"/>
              </a:rPr>
              <a:t>Governance layer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Controls, not paperwork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60520"/>
            <a:ext cx="256032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Field sensitivity registry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53328" y="4160520"/>
            <a:ext cx="20116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Read-only guardrails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4736" y="4160520"/>
            <a:ext cx="210312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Approval and override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654296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Append-only audit trail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5943600" y="5202936"/>
            <a:ext cx="274320" cy="128016"/>
          </a:xfrm>
          <a:prstGeom prst="downArrow">
            <a:avLst/>
          </a:prstGeom>
          <a:solidFill>
            <a:srgbClr val="8A9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330952"/>
            <a:ext cx="110642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330952"/>
            <a:ext cx="82296" cy="713232"/>
          </a:xfrm>
          <a:prstGeom prst="rect">
            <a:avLst/>
          </a:prstGeom>
          <a:solidFill>
            <a:srgbClr val="0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495544"/>
            <a:ext cx="23774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202E"/>
                </a:solidFill>
                <a:latin typeface="Segoe UI"/>
              </a:rPr>
              <a:t>Data layer</a:t>
            </a:r>
          </a:p>
          <a:p>
            <a:pPr algn="l"/>
            <a:r>
              <a:rPr sz="1000" b="0">
                <a:solidFill>
                  <a:srgbClr val="8A94A4"/>
                </a:solidFill>
                <a:latin typeface="Segoe UI"/>
              </a:rPr>
              <a:t>MongoDB and enterprise APIs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495544"/>
            <a:ext cx="219456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sample_airbnb listings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87568" y="5495544"/>
            <a:ext cx="237744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Enterprise Core REST API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74736" y="5495544"/>
            <a:ext cx="15544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Access requests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8944" y="5495544"/>
            <a:ext cx="1097280" cy="384048"/>
          </a:xfrm>
          <a:prstGeom prst="roundRect">
            <a:avLst>
              <a:gd name="adj" fmla="val 30000"/>
            </a:avLst>
          </a:prstGeom>
          <a:solidFill>
            <a:srgbClr val="F9FAFC"/>
          </a:solidFill>
          <a:ln w="9525">
            <a:solidFill>
              <a:srgbClr val="E3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100"/>
              </a:spcAft>
            </a:pPr>
            <a:r>
              <a:rPr sz="950" b="1">
                <a:solidFill>
                  <a:srgbClr val="5B6676"/>
                </a:solidFill>
                <a:latin typeface="Segoe UI"/>
              </a:rPr>
              <a:t>Audit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D4ED8"/>
                </a:solidFill>
                <a:latin typeface="Segoe UI"/>
              </a:rPr>
              <a:t>THE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6202E"/>
                </a:solidFill>
                <a:latin typeface="Segoe UI"/>
              </a:rPr>
              <a:t>Speed and governance stop being a trade-off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691640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202E"/>
                </a:solidFill>
                <a:latin typeface="Segoe UI"/>
              </a:rPr>
              <a:t>Simple questions</a:t>
            </a:r>
          </a:p>
          <a:p>
            <a:pPr algn="l"/>
            <a:r>
              <a:rPr sz="1200" b="0">
                <a:solidFill>
                  <a:srgbClr val="5B6676"/>
                </a:solidFill>
                <a:latin typeface="Segoe UI"/>
              </a:rPr>
              <a:t>Answered locally and instantly, at zero model cost.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560320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202E"/>
                </a:solidFill>
                <a:latin typeface="Segoe UI"/>
              </a:rPr>
              <a:t>Hard questions</a:t>
            </a:r>
          </a:p>
          <a:p>
            <a:pPr algn="l"/>
            <a:r>
              <a:rPr sz="1200" b="0">
                <a:solidFill>
                  <a:srgbClr val="5B6676"/>
                </a:solidFill>
                <a:latin typeface="Segoe UI"/>
              </a:rPr>
              <a:t>Reasoned by the model, validated, and self-corrected up to three times.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429000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202E"/>
                </a:solidFill>
                <a:latin typeface="Segoe UI"/>
              </a:rPr>
              <a:t>Sensitive requests</a:t>
            </a:r>
          </a:p>
          <a:p>
            <a:pPr algn="l"/>
            <a:r>
              <a:rPr sz="1200" b="0">
                <a:solidFill>
                  <a:srgbClr val="5B6676"/>
                </a:solidFill>
                <a:latin typeface="Segoe UI"/>
              </a:rPr>
              <a:t>Paused for an approver by design, with a manager override path.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297680"/>
            <a:ext cx="146304" cy="146304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202E"/>
                </a:solidFill>
                <a:latin typeface="Segoe UI"/>
              </a:rPr>
              <a:t>Every action</a:t>
            </a:r>
          </a:p>
          <a:p>
            <a:pPr algn="l"/>
            <a:r>
              <a:rPr sz="1200" b="0">
                <a:solidFill>
                  <a:srgbClr val="5B6676"/>
                </a:solidFill>
                <a:latin typeface="Segoe UI"/>
              </a:rPr>
              <a:t>Recorded in an append-only audit trail with actor and justification.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4A4"/>
                </a:solidFill>
                <a:latin typeface="Segoe UI"/>
              </a:rPr>
              <a:t>Design and process illustration. Times are illustrative of a typical enterprise request lifecycle, not measured production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